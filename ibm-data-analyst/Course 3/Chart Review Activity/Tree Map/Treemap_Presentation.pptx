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[0:00-0:15] Today: the treemap. What it is, what data it needs, and why it earns a place in your toolkit. I'll use the UK roller coaster dataset - fifty coasters - as the example.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[0:15-0:50] A treemap shows hierarchical data as nested rectangles. Three things. Area encodes the value - bigger number, bigger rectangle. Nesting encodes the hierarchy - children sit inside their parent. And the whole canvas is the total, so nothing is left out. On the right, A is six times D. You perceive that instantly, without reading a number. That's the entire pitch: a pie chart that can handle nesting, and fifty categories instead of five.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[0:50-1:35] A treemap needs two kinds of column. A categorical text column, which creates the rectangles - one column gives a flat treemap, two gives nesting, and each child must have exactly one parent or you double-count. And a quantitative column, which sets the area. It must be positive, because a negative has no area. And it must be additive, because the parent rectangle is the sum of its children. Additive is the one people miss. The test: if I add two of these together, does the answer mean anything? Three coasters plus five is eight coasters - fine. Forty-six miles per hour plus forty-seven is ninety-three, which describes nothing. So in our data, speed can't size a treemap. Neither can the year. Only a count can.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[1:35-2:20] Here it is. Design is the categorical column, a count of coasters is the quantitative one, and the canvas is all fifty. Sit Down takes eighty-two percent of the area, and you register that before you read the label. Inverted is six. Flying, Stand Up and Suspended are one apiece - and look at them. Slivers. That's the treemap being honest: four of the five designs barely exist here, where a bar chart would flatter each with an equal-width bar. One caveat on my own chart: it's flat, single-level. With five categories and no nesting it's doing roughly what a pie would. Add Type - Steel versus Wood - as a parent, and you get real hierarchy.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[2:20-3:00] So why use one? Density: hundreds of categories on one screen, where a bar chart needs a scrollbar. Second, it answers two questions at once - what share is this, and where does it sit in the structure. Third, it carries two measures: size by one number, colour by another. Area equals coaster count, colour equals average speed, and you've encoded two variables in one picture. The honest caveat: humans compare areas badly. Twice the area does not look twice as big. So a treemap is good for spotting the dominant block, poor for reading exact values. Use one when you have real nesting and too many categories for bars. Below ten categories with no hierarchy, use a bar chart. Thank you.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F3C7E"/>
          </a:solidFill>
          <a:ln/>
        </p:spPr>
      </p:sp>
      <p:sp>
        <p:nvSpPr>
          <p:cNvPr id="3" name="Shape 1"/>
          <p:cNvSpPr/>
          <p:nvPr/>
        </p:nvSpPr>
        <p:spPr>
          <a:xfrm>
            <a:off x="5989320" y="1051560"/>
            <a:ext cx="2514600" cy="3017520"/>
          </a:xfrm>
          <a:prstGeom prst="rect">
            <a:avLst/>
          </a:prstGeom>
          <a:solidFill>
            <a:srgbClr val="F96167"/>
          </a:solidFill>
          <a:ln/>
        </p:spPr>
      </p:sp>
      <p:sp>
        <p:nvSpPr>
          <p:cNvPr id="4" name="Shape 2"/>
          <p:cNvSpPr/>
          <p:nvPr/>
        </p:nvSpPr>
        <p:spPr>
          <a:xfrm>
            <a:off x="8549640" y="1051560"/>
            <a:ext cx="502920" cy="1920240"/>
          </a:xfrm>
          <a:prstGeom prst="rect">
            <a:avLst/>
          </a:prstGeom>
          <a:solidFill>
            <a:srgbClr val="F9E795"/>
          </a:solidFill>
          <a:ln/>
        </p:spPr>
      </p:sp>
      <p:sp>
        <p:nvSpPr>
          <p:cNvPr id="5" name="Shape 3"/>
          <p:cNvSpPr/>
          <p:nvPr/>
        </p:nvSpPr>
        <p:spPr>
          <a:xfrm>
            <a:off x="8549640" y="3017520"/>
            <a:ext cx="502920" cy="365760"/>
          </a:xfrm>
          <a:prstGeom prst="rect">
            <a:avLst/>
          </a:prstGeom>
          <a:solidFill>
            <a:srgbClr val="FFFFFF"/>
          </a:solidFill>
          <a:ln/>
        </p:spPr>
      </p:sp>
      <p:sp>
        <p:nvSpPr>
          <p:cNvPr id="6" name="Shape 4"/>
          <p:cNvSpPr/>
          <p:nvPr/>
        </p:nvSpPr>
        <p:spPr>
          <a:xfrm>
            <a:off x="8549640" y="3429000"/>
            <a:ext cx="502920" cy="320040"/>
          </a:xfrm>
          <a:prstGeom prst="rect">
            <a:avLst/>
          </a:prstGeom>
          <a:solidFill>
            <a:srgbClr val="FFFFFF"/>
          </a:solidFill>
          <a:ln/>
        </p:spPr>
      </p:sp>
      <p:sp>
        <p:nvSpPr>
          <p:cNvPr id="7" name="Shape 5"/>
          <p:cNvSpPr/>
          <p:nvPr/>
        </p:nvSpPr>
        <p:spPr>
          <a:xfrm>
            <a:off x="8549640" y="3794760"/>
            <a:ext cx="502920" cy="274320"/>
          </a:xfrm>
          <a:prstGeom prst="rect">
            <a:avLst/>
          </a:prstGeom>
          <a:solidFill>
            <a:srgbClr val="FFFFFF"/>
          </a:solidFill>
          <a:ln/>
        </p:spPr>
      </p:sp>
      <p:sp>
        <p:nvSpPr>
          <p:cNvPr id="8" name="Text 6"/>
          <p:cNvSpPr/>
          <p:nvPr/>
        </p:nvSpPr>
        <p:spPr>
          <a:xfrm>
            <a:off x="640080" y="1371600"/>
            <a:ext cx="5120640" cy="914400"/>
          </a:xfrm>
          <a:prstGeom prst="rect">
            <a:avLst/>
          </a:prstGeom>
          <a:noFill/>
          <a:ln/>
        </p:spPr>
        <p:txBody>
          <a:bodyPr wrap="square" lIns="0" tIns="0" rIns="0" bIns="0" rtlCol="0" anchor="ctr"/>
          <a:lstStyle/>
          <a:p>
            <a:pPr indent="0" marL="0">
              <a:buNone/>
            </a:pPr>
            <a:r>
              <a:rPr lang="en-US" sz="4400" b="1" dirty="0">
                <a:solidFill>
                  <a:srgbClr val="FFFFFF"/>
                </a:solidFill>
                <a:latin typeface="Bookman Old Style" pitchFamily="34" charset="0"/>
                <a:ea typeface="Bookman Old Style" pitchFamily="34" charset="-122"/>
                <a:cs typeface="Bookman Old Style" pitchFamily="34" charset="-120"/>
              </a:rPr>
              <a:t>Treemaps</a:t>
            </a:r>
            <a:endParaRPr lang="en-US" sz="4400" dirty="0"/>
          </a:p>
        </p:txBody>
      </p:sp>
      <p:sp>
        <p:nvSpPr>
          <p:cNvPr id="9" name="Text 7"/>
          <p:cNvSpPr/>
          <p:nvPr/>
        </p:nvSpPr>
        <p:spPr>
          <a:xfrm>
            <a:off x="640080" y="2240280"/>
            <a:ext cx="5120640" cy="457200"/>
          </a:xfrm>
          <a:prstGeom prst="rect">
            <a:avLst/>
          </a:prstGeom>
          <a:noFill/>
          <a:ln/>
        </p:spPr>
        <p:txBody>
          <a:bodyPr wrap="square" lIns="0" tIns="0" rIns="0" bIns="0" rtlCol="0" anchor="ctr"/>
          <a:lstStyle/>
          <a:p>
            <a:pPr indent="0" marL="0">
              <a:buNone/>
            </a:pPr>
            <a:r>
              <a:rPr lang="en-US" sz="2000" i="1" dirty="0">
                <a:solidFill>
                  <a:srgbClr val="F9E795"/>
                </a:solidFill>
                <a:latin typeface="Calibri" pitchFamily="34" charset="0"/>
                <a:ea typeface="Calibri" pitchFamily="34" charset="-122"/>
                <a:cs typeface="Calibri" pitchFamily="34" charset="-120"/>
              </a:rPr>
              <a:t>Reading data by area</a:t>
            </a:r>
            <a:endParaRPr lang="en-US" sz="2000" dirty="0"/>
          </a:p>
        </p:txBody>
      </p:sp>
      <p:sp>
        <p:nvSpPr>
          <p:cNvPr id="10" name="Text 8"/>
          <p:cNvSpPr/>
          <p:nvPr/>
        </p:nvSpPr>
        <p:spPr>
          <a:xfrm>
            <a:off x="640080" y="3063240"/>
            <a:ext cx="5120640" cy="457200"/>
          </a:xfrm>
          <a:prstGeom prst="rect">
            <a:avLst/>
          </a:prstGeom>
          <a:noFill/>
          <a:ln/>
        </p:spPr>
        <p:txBody>
          <a:bodyPr wrap="square" lIns="0" tIns="0" rIns="0" bIns="0" rtlCol="0" anchor="ctr"/>
          <a:lstStyle/>
          <a:p>
            <a:pPr indent="0" marL="0">
              <a:buNone/>
            </a:pPr>
            <a:r>
              <a:rPr lang="en-US" sz="1300" dirty="0">
                <a:solidFill>
                  <a:srgbClr val="CFD4EA"/>
                </a:solidFill>
                <a:latin typeface="Calibri" pitchFamily="34" charset="0"/>
                <a:ea typeface="Calibri" pitchFamily="34" charset="-122"/>
                <a:cs typeface="Calibri" pitchFamily="34" charset="-120"/>
              </a:rPr>
              <a:t>UK Roller Coaster Dataset  ·  50 coasters  ·  Design breakdown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548640" y="384048"/>
            <a:ext cx="8046720" cy="685800"/>
          </a:xfrm>
          <a:prstGeom prst="rect">
            <a:avLst/>
          </a:prstGeom>
          <a:noFill/>
          <a:ln/>
        </p:spPr>
        <p:txBody>
          <a:bodyPr wrap="square" lIns="0" tIns="0" rIns="0" bIns="0" rtlCol="0" anchor="ctr"/>
          <a:lstStyle/>
          <a:p>
            <a:pPr indent="0" marL="0">
              <a:buNone/>
            </a:pPr>
            <a:r>
              <a:rPr lang="en-US" sz="3200" b="1" dirty="0">
                <a:solidFill>
                  <a:srgbClr val="1A1A2E"/>
                </a:solidFill>
                <a:latin typeface="Bookman Old Style" pitchFamily="34" charset="0"/>
                <a:ea typeface="Bookman Old Style" pitchFamily="34" charset="-122"/>
                <a:cs typeface="Bookman Old Style" pitchFamily="34" charset="-120"/>
              </a:rPr>
              <a:t>What is a treemap?</a:t>
            </a:r>
            <a:endParaRPr lang="en-US" sz="3200" dirty="0"/>
          </a:p>
        </p:txBody>
      </p:sp>
      <p:sp>
        <p:nvSpPr>
          <p:cNvPr id="4" name="Text 2"/>
          <p:cNvSpPr/>
          <p:nvPr/>
        </p:nvSpPr>
        <p:spPr>
          <a:xfrm>
            <a:off x="548640" y="1207008"/>
            <a:ext cx="4572000" cy="548640"/>
          </a:xfrm>
          <a:prstGeom prst="rect">
            <a:avLst/>
          </a:prstGeom>
          <a:noFill/>
          <a:ln/>
        </p:spPr>
        <p:txBody>
          <a:bodyPr wrap="square" lIns="0" tIns="0" rIns="0" bIns="0" rtlCol="0" anchor="ctr"/>
          <a:lstStyle/>
          <a:p>
            <a:pPr indent="0" marL="0">
              <a:buNone/>
            </a:pPr>
            <a:r>
              <a:rPr lang="en-US" sz="1700" b="1" dirty="0">
                <a:solidFill>
                  <a:srgbClr val="2F3C7E"/>
                </a:solidFill>
                <a:latin typeface="Calibri" pitchFamily="34" charset="0"/>
                <a:ea typeface="Calibri" pitchFamily="34" charset="-122"/>
                <a:cs typeface="Calibri" pitchFamily="34" charset="-120"/>
              </a:rPr>
              <a:t>A chart that shows hierarchical data as nested rectangles.</a:t>
            </a:r>
            <a:endParaRPr lang="en-US" sz="1700" dirty="0"/>
          </a:p>
        </p:txBody>
      </p:sp>
      <p:sp>
        <p:nvSpPr>
          <p:cNvPr id="5" name="Shape 3"/>
          <p:cNvSpPr/>
          <p:nvPr/>
        </p:nvSpPr>
        <p:spPr>
          <a:xfrm>
            <a:off x="566928" y="2002536"/>
            <a:ext cx="310896" cy="310896"/>
          </a:xfrm>
          <a:prstGeom prst="ellipse">
            <a:avLst/>
          </a:prstGeom>
          <a:solidFill>
            <a:srgbClr val="F96167"/>
          </a:solidFill>
          <a:ln/>
        </p:spPr>
      </p:sp>
      <p:sp>
        <p:nvSpPr>
          <p:cNvPr id="6" name="Text 4"/>
          <p:cNvSpPr/>
          <p:nvPr/>
        </p:nvSpPr>
        <p:spPr>
          <a:xfrm>
            <a:off x="1024128" y="1965960"/>
            <a:ext cx="1417320" cy="384048"/>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Area</a:t>
            </a:r>
            <a:endParaRPr lang="en-US" sz="1400" dirty="0"/>
          </a:p>
        </p:txBody>
      </p:sp>
      <p:sp>
        <p:nvSpPr>
          <p:cNvPr id="7" name="Text 5"/>
          <p:cNvSpPr/>
          <p:nvPr/>
        </p:nvSpPr>
        <p:spPr>
          <a:xfrm>
            <a:off x="1024128" y="2313432"/>
            <a:ext cx="3931920" cy="384048"/>
          </a:xfrm>
          <a:prstGeom prst="rect">
            <a:avLst/>
          </a:prstGeom>
          <a:noFill/>
          <a:ln/>
        </p:spPr>
        <p:txBody>
          <a:bodyPr wrap="square" lIns="0" tIns="0" rIns="0" bIns="0" rtlCol="0" anchor="ctr"/>
          <a:lstStyle/>
          <a:p>
            <a:pPr indent="0" marL="0">
              <a:buNone/>
            </a:pPr>
            <a:r>
              <a:rPr lang="en-US" sz="1300" dirty="0">
                <a:solidFill>
                  <a:srgbClr val="6B6B7B"/>
                </a:solidFill>
                <a:latin typeface="Calibri" pitchFamily="34" charset="0"/>
                <a:ea typeface="Calibri" pitchFamily="34" charset="-122"/>
                <a:cs typeface="Calibri" pitchFamily="34" charset="-120"/>
              </a:rPr>
              <a:t>= the value. Bigger number, bigger rectangle.</a:t>
            </a:r>
            <a:endParaRPr lang="en-US" sz="1300" dirty="0"/>
          </a:p>
        </p:txBody>
      </p:sp>
      <p:sp>
        <p:nvSpPr>
          <p:cNvPr id="8" name="Shape 6"/>
          <p:cNvSpPr/>
          <p:nvPr/>
        </p:nvSpPr>
        <p:spPr>
          <a:xfrm>
            <a:off x="566928" y="2779776"/>
            <a:ext cx="310896" cy="310896"/>
          </a:xfrm>
          <a:prstGeom prst="ellipse">
            <a:avLst/>
          </a:prstGeom>
          <a:solidFill>
            <a:srgbClr val="F96167"/>
          </a:solidFill>
          <a:ln/>
        </p:spPr>
      </p:sp>
      <p:sp>
        <p:nvSpPr>
          <p:cNvPr id="9" name="Text 7"/>
          <p:cNvSpPr/>
          <p:nvPr/>
        </p:nvSpPr>
        <p:spPr>
          <a:xfrm>
            <a:off x="1024128" y="2743200"/>
            <a:ext cx="1417320" cy="384048"/>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Nesting</a:t>
            </a:r>
            <a:endParaRPr lang="en-US" sz="1400" dirty="0"/>
          </a:p>
        </p:txBody>
      </p:sp>
      <p:sp>
        <p:nvSpPr>
          <p:cNvPr id="10" name="Text 8"/>
          <p:cNvSpPr/>
          <p:nvPr/>
        </p:nvSpPr>
        <p:spPr>
          <a:xfrm>
            <a:off x="1024128" y="3090672"/>
            <a:ext cx="3931920" cy="384048"/>
          </a:xfrm>
          <a:prstGeom prst="rect">
            <a:avLst/>
          </a:prstGeom>
          <a:noFill/>
          <a:ln/>
        </p:spPr>
        <p:txBody>
          <a:bodyPr wrap="square" lIns="0" tIns="0" rIns="0" bIns="0" rtlCol="0" anchor="ctr"/>
          <a:lstStyle/>
          <a:p>
            <a:pPr indent="0" marL="0">
              <a:buNone/>
            </a:pPr>
            <a:r>
              <a:rPr lang="en-US" sz="1300" dirty="0">
                <a:solidFill>
                  <a:srgbClr val="6B6B7B"/>
                </a:solidFill>
                <a:latin typeface="Calibri" pitchFamily="34" charset="0"/>
                <a:ea typeface="Calibri" pitchFamily="34" charset="-122"/>
                <a:cs typeface="Calibri" pitchFamily="34" charset="-120"/>
              </a:rPr>
              <a:t>= the hierarchy. Children sit inside their parent.</a:t>
            </a:r>
            <a:endParaRPr lang="en-US" sz="1300" dirty="0"/>
          </a:p>
        </p:txBody>
      </p:sp>
      <p:sp>
        <p:nvSpPr>
          <p:cNvPr id="11" name="Shape 9"/>
          <p:cNvSpPr/>
          <p:nvPr/>
        </p:nvSpPr>
        <p:spPr>
          <a:xfrm>
            <a:off x="566928" y="3557016"/>
            <a:ext cx="310896" cy="310896"/>
          </a:xfrm>
          <a:prstGeom prst="ellipse">
            <a:avLst/>
          </a:prstGeom>
          <a:solidFill>
            <a:srgbClr val="F96167"/>
          </a:solidFill>
          <a:ln/>
        </p:spPr>
      </p:sp>
      <p:sp>
        <p:nvSpPr>
          <p:cNvPr id="12" name="Text 10"/>
          <p:cNvSpPr/>
          <p:nvPr/>
        </p:nvSpPr>
        <p:spPr>
          <a:xfrm>
            <a:off x="1024128" y="3520440"/>
            <a:ext cx="1417320" cy="384048"/>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Whole canvas</a:t>
            </a:r>
            <a:endParaRPr lang="en-US" sz="1400" dirty="0"/>
          </a:p>
        </p:txBody>
      </p:sp>
      <p:sp>
        <p:nvSpPr>
          <p:cNvPr id="13" name="Text 11"/>
          <p:cNvSpPr/>
          <p:nvPr/>
        </p:nvSpPr>
        <p:spPr>
          <a:xfrm>
            <a:off x="1024128" y="3867912"/>
            <a:ext cx="3931920" cy="384048"/>
          </a:xfrm>
          <a:prstGeom prst="rect">
            <a:avLst/>
          </a:prstGeom>
          <a:noFill/>
          <a:ln/>
        </p:spPr>
        <p:txBody>
          <a:bodyPr wrap="square" lIns="0" tIns="0" rIns="0" bIns="0" rtlCol="0" anchor="ctr"/>
          <a:lstStyle/>
          <a:p>
            <a:pPr indent="0" marL="0">
              <a:buNone/>
            </a:pPr>
            <a:r>
              <a:rPr lang="en-US" sz="1300" dirty="0">
                <a:solidFill>
                  <a:srgbClr val="6B6B7B"/>
                </a:solidFill>
                <a:latin typeface="Calibri" pitchFamily="34" charset="0"/>
                <a:ea typeface="Calibri" pitchFamily="34" charset="-122"/>
                <a:cs typeface="Calibri" pitchFamily="34" charset="-120"/>
              </a:rPr>
              <a:t>= the total. Every part accounted for.</a:t>
            </a:r>
            <a:endParaRPr lang="en-US" sz="1300" dirty="0"/>
          </a:p>
        </p:txBody>
      </p:sp>
      <p:sp>
        <p:nvSpPr>
          <p:cNvPr id="14" name="Text 12"/>
          <p:cNvSpPr/>
          <p:nvPr/>
        </p:nvSpPr>
        <p:spPr>
          <a:xfrm>
            <a:off x="548640" y="4370832"/>
            <a:ext cx="4663440" cy="548640"/>
          </a:xfrm>
          <a:prstGeom prst="rect">
            <a:avLst/>
          </a:prstGeom>
          <a:noFill/>
          <a:ln/>
        </p:spPr>
        <p:txBody>
          <a:bodyPr wrap="square" lIns="0" tIns="0" rIns="0" bIns="0" rtlCol="0" anchor="ctr"/>
          <a:lstStyle/>
          <a:p>
            <a:pPr indent="0" marL="0">
              <a:buNone/>
            </a:pPr>
            <a:r>
              <a:rPr lang="en-US" sz="1200" i="1" dirty="0">
                <a:solidFill>
                  <a:srgbClr val="2F3C7E"/>
                </a:solidFill>
                <a:latin typeface="Calibri" pitchFamily="34" charset="0"/>
                <a:ea typeface="Calibri" pitchFamily="34" charset="-122"/>
                <a:cs typeface="Calibri" pitchFamily="34" charset="-120"/>
              </a:rPr>
              <a:t>Think of it as a pie chart that can handle nesting — and fifty categories instead of five.</a:t>
            </a:r>
            <a:endParaRPr lang="en-US" sz="1200" dirty="0"/>
          </a:p>
        </p:txBody>
      </p:sp>
      <p:sp>
        <p:nvSpPr>
          <p:cNvPr id="15" name="Shape 13"/>
          <p:cNvSpPr/>
          <p:nvPr/>
        </p:nvSpPr>
        <p:spPr>
          <a:xfrm>
            <a:off x="5532120" y="1207008"/>
            <a:ext cx="1899209" cy="3017520"/>
          </a:xfrm>
          <a:prstGeom prst="rect">
            <a:avLst/>
          </a:prstGeom>
          <a:solidFill>
            <a:srgbClr val="2F3C7E"/>
          </a:solidFill>
          <a:ln/>
        </p:spPr>
      </p:sp>
      <p:sp>
        <p:nvSpPr>
          <p:cNvPr id="16" name="Text 14"/>
          <p:cNvSpPr/>
          <p:nvPr/>
        </p:nvSpPr>
        <p:spPr>
          <a:xfrm>
            <a:off x="5532120" y="2350008"/>
            <a:ext cx="1899209"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a:t>
            </a:r>
            <a:endParaRPr lang="en-US" sz="2200" dirty="0"/>
          </a:p>
        </p:txBody>
      </p:sp>
      <p:sp>
        <p:nvSpPr>
          <p:cNvPr id="17" name="Shape 15"/>
          <p:cNvSpPr/>
          <p:nvPr/>
        </p:nvSpPr>
        <p:spPr>
          <a:xfrm>
            <a:off x="7431329" y="1207008"/>
            <a:ext cx="1164031" cy="1659636"/>
          </a:xfrm>
          <a:prstGeom prst="rect">
            <a:avLst/>
          </a:prstGeom>
          <a:solidFill>
            <a:srgbClr val="F96167"/>
          </a:solidFill>
          <a:ln/>
        </p:spPr>
      </p:sp>
      <p:sp>
        <p:nvSpPr>
          <p:cNvPr id="18" name="Text 16"/>
          <p:cNvSpPr/>
          <p:nvPr/>
        </p:nvSpPr>
        <p:spPr>
          <a:xfrm>
            <a:off x="7431329" y="1755648"/>
            <a:ext cx="1164031"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Shape 17"/>
          <p:cNvSpPr/>
          <p:nvPr/>
        </p:nvSpPr>
        <p:spPr>
          <a:xfrm>
            <a:off x="7431329" y="2866644"/>
            <a:ext cx="1164031" cy="844906"/>
          </a:xfrm>
          <a:prstGeom prst="rect">
            <a:avLst/>
          </a:prstGeom>
          <a:solidFill>
            <a:srgbClr val="F9E795"/>
          </a:solidFill>
          <a:ln/>
        </p:spPr>
      </p:sp>
      <p:sp>
        <p:nvSpPr>
          <p:cNvPr id="20" name="Text 18"/>
          <p:cNvSpPr/>
          <p:nvPr/>
        </p:nvSpPr>
        <p:spPr>
          <a:xfrm>
            <a:off x="7431329" y="3003804"/>
            <a:ext cx="1164031" cy="365760"/>
          </a:xfrm>
          <a:prstGeom prst="rect">
            <a:avLst/>
          </a:prstGeom>
          <a:noFill/>
          <a:ln/>
        </p:spPr>
        <p:txBody>
          <a:bodyPr wrap="square" lIns="0" tIns="0" rIns="0" bIns="0" rtlCol="0" anchor="ctr"/>
          <a:lstStyle/>
          <a:p>
            <a:pPr algn="ctr" indent="0" marL="0">
              <a:buNone/>
            </a:pPr>
            <a:r>
              <a:rPr lang="en-US" sz="1500" b="1" dirty="0">
                <a:solidFill>
                  <a:srgbClr val="1A1A2E"/>
                </a:solidFill>
                <a:latin typeface="Calibri" pitchFamily="34" charset="0"/>
                <a:ea typeface="Calibri" pitchFamily="34" charset="-122"/>
                <a:cs typeface="Calibri" pitchFamily="34" charset="-120"/>
              </a:rPr>
              <a:t>C</a:t>
            </a:r>
            <a:endParaRPr lang="en-US" sz="1500" dirty="0"/>
          </a:p>
        </p:txBody>
      </p:sp>
      <p:sp>
        <p:nvSpPr>
          <p:cNvPr id="21" name="Shape 19"/>
          <p:cNvSpPr/>
          <p:nvPr/>
        </p:nvSpPr>
        <p:spPr>
          <a:xfrm>
            <a:off x="7431329" y="3711550"/>
            <a:ext cx="1164031" cy="512978"/>
          </a:xfrm>
          <a:prstGeom prst="rect">
            <a:avLst/>
          </a:prstGeom>
          <a:solidFill>
            <a:srgbClr val="C9CDE4"/>
          </a:solidFill>
          <a:ln/>
        </p:spPr>
      </p:sp>
      <p:sp>
        <p:nvSpPr>
          <p:cNvPr id="22" name="Text 20"/>
          <p:cNvSpPr/>
          <p:nvPr/>
        </p:nvSpPr>
        <p:spPr>
          <a:xfrm>
            <a:off x="7431329" y="3757270"/>
            <a:ext cx="1164031" cy="320040"/>
          </a:xfrm>
          <a:prstGeom prst="rect">
            <a:avLst/>
          </a:prstGeom>
          <a:noFill/>
          <a:ln/>
        </p:spPr>
        <p:txBody>
          <a:bodyPr wrap="square" lIns="0" tIns="0" rIns="0" bIns="0" rtlCol="0" anchor="ctr"/>
          <a:lstStyle/>
          <a:p>
            <a:pPr algn="ctr" indent="0" marL="0">
              <a:buNone/>
            </a:pPr>
            <a:r>
              <a:rPr lang="en-US" sz="1100" b="1" dirty="0">
                <a:solidFill>
                  <a:srgbClr val="1A1A2E"/>
                </a:solidFill>
                <a:latin typeface="Calibri" pitchFamily="34" charset="0"/>
                <a:ea typeface="Calibri" pitchFamily="34" charset="-122"/>
                <a:cs typeface="Calibri" pitchFamily="34" charset="-120"/>
              </a:rPr>
              <a:t>D</a:t>
            </a:r>
            <a:endParaRPr lang="en-US" sz="1100" dirty="0"/>
          </a:p>
        </p:txBody>
      </p:sp>
      <p:sp>
        <p:nvSpPr>
          <p:cNvPr id="23" name="Text 21"/>
          <p:cNvSpPr/>
          <p:nvPr/>
        </p:nvSpPr>
        <p:spPr>
          <a:xfrm>
            <a:off x="5532120" y="4352544"/>
            <a:ext cx="3063240" cy="365760"/>
          </a:xfrm>
          <a:prstGeom prst="rect">
            <a:avLst/>
          </a:prstGeom>
          <a:noFill/>
          <a:ln/>
        </p:spPr>
        <p:txBody>
          <a:bodyPr wrap="square" lIns="0" tIns="0" rIns="0" bIns="0" rtlCol="0" anchor="ctr"/>
          <a:lstStyle/>
          <a:p>
            <a:pPr algn="ctr" indent="0" marL="0">
              <a:buNone/>
            </a:pPr>
            <a:r>
              <a:rPr lang="en-US" sz="1000" dirty="0">
                <a:solidFill>
                  <a:srgbClr val="6B6B7B"/>
                </a:solidFill>
                <a:latin typeface="Calibri" pitchFamily="34" charset="0"/>
                <a:ea typeface="Calibri" pitchFamily="34" charset="-122"/>
                <a:cs typeface="Calibri" pitchFamily="34" charset="-120"/>
              </a:rPr>
              <a:t>A is 6× D — you see it, you don't read it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548640" y="384048"/>
            <a:ext cx="8046720" cy="685800"/>
          </a:xfrm>
          <a:prstGeom prst="rect">
            <a:avLst/>
          </a:prstGeom>
          <a:noFill/>
          <a:ln/>
        </p:spPr>
        <p:txBody>
          <a:bodyPr wrap="square" lIns="0" tIns="0" rIns="0" bIns="0" rtlCol="0" anchor="ctr"/>
          <a:lstStyle/>
          <a:p>
            <a:pPr indent="0" marL="0">
              <a:buNone/>
            </a:pPr>
            <a:r>
              <a:rPr lang="en-US" sz="3200" b="1" dirty="0">
                <a:solidFill>
                  <a:srgbClr val="1A1A2E"/>
                </a:solidFill>
                <a:latin typeface="Bookman Old Style" pitchFamily="34" charset="0"/>
                <a:ea typeface="Bookman Old Style" pitchFamily="34" charset="-122"/>
                <a:cs typeface="Bookman Old Style" pitchFamily="34" charset="-120"/>
              </a:rPr>
              <a:t>What data does a treemap need?</a:t>
            </a:r>
            <a:endParaRPr lang="en-US" sz="3200" dirty="0"/>
          </a:p>
        </p:txBody>
      </p:sp>
      <p:sp>
        <p:nvSpPr>
          <p:cNvPr id="4" name="Shape 2"/>
          <p:cNvSpPr/>
          <p:nvPr/>
        </p:nvSpPr>
        <p:spPr>
          <a:xfrm>
            <a:off x="548640" y="1188720"/>
            <a:ext cx="3977640" cy="2286000"/>
          </a:xfrm>
          <a:prstGeom prst="roundRect">
            <a:avLst>
              <a:gd name="adj" fmla="val 3600"/>
            </a:avLst>
          </a:prstGeom>
          <a:solidFill>
            <a:srgbClr val="EEF0F7"/>
          </a:solidFill>
          <a:ln/>
        </p:spPr>
      </p:sp>
      <p:sp>
        <p:nvSpPr>
          <p:cNvPr id="5" name="Text 3"/>
          <p:cNvSpPr/>
          <p:nvPr/>
        </p:nvSpPr>
        <p:spPr>
          <a:xfrm>
            <a:off x="822960" y="1371600"/>
            <a:ext cx="3474720" cy="320040"/>
          </a:xfrm>
          <a:prstGeom prst="rect">
            <a:avLst/>
          </a:prstGeom>
          <a:noFill/>
          <a:ln/>
        </p:spPr>
        <p:txBody>
          <a:bodyPr wrap="square" lIns="0" tIns="0" rIns="0" bIns="0" rtlCol="0" anchor="ctr"/>
          <a:lstStyle/>
          <a:p>
            <a:pPr indent="0" marL="0">
              <a:buNone/>
            </a:pPr>
            <a:r>
              <a:rPr lang="en-US" sz="1100" b="1" spc="150" kern="0" dirty="0">
                <a:solidFill>
                  <a:srgbClr val="F96167"/>
                </a:solidFill>
                <a:latin typeface="Calibri" pitchFamily="34" charset="0"/>
                <a:ea typeface="Calibri" pitchFamily="34" charset="-122"/>
                <a:cs typeface="Calibri" pitchFamily="34" charset="-120"/>
              </a:rPr>
              <a:t>COLUMN TYPE 1</a:t>
            </a:r>
            <a:endParaRPr lang="en-US" sz="1100" dirty="0"/>
          </a:p>
        </p:txBody>
      </p:sp>
      <p:sp>
        <p:nvSpPr>
          <p:cNvPr id="6" name="Text 4"/>
          <p:cNvSpPr/>
          <p:nvPr/>
        </p:nvSpPr>
        <p:spPr>
          <a:xfrm>
            <a:off x="822960" y="1691640"/>
            <a:ext cx="3474720" cy="411480"/>
          </a:xfrm>
          <a:prstGeom prst="rect">
            <a:avLst/>
          </a:prstGeom>
          <a:noFill/>
          <a:ln/>
        </p:spPr>
        <p:txBody>
          <a:bodyPr wrap="square" lIns="0" tIns="0" rIns="0" bIns="0" rtlCol="0" anchor="ctr"/>
          <a:lstStyle/>
          <a:p>
            <a:pPr indent="0" marL="0">
              <a:buNone/>
            </a:pPr>
            <a:r>
              <a:rPr lang="en-US" sz="1800" b="1" dirty="0">
                <a:solidFill>
                  <a:srgbClr val="1A1A2E"/>
                </a:solidFill>
                <a:latin typeface="Bookman Old Style" pitchFamily="34" charset="0"/>
                <a:ea typeface="Bookman Old Style" pitchFamily="34" charset="-122"/>
                <a:cs typeface="Bookman Old Style" pitchFamily="34" charset="-120"/>
              </a:rPr>
              <a:t>Categorical (text)</a:t>
            </a:r>
            <a:endParaRPr lang="en-US" sz="1800" dirty="0"/>
          </a:p>
        </p:txBody>
      </p:sp>
      <p:sp>
        <p:nvSpPr>
          <p:cNvPr id="7" name="Text 5"/>
          <p:cNvSpPr/>
          <p:nvPr/>
        </p:nvSpPr>
        <p:spPr>
          <a:xfrm>
            <a:off x="822960" y="2212848"/>
            <a:ext cx="3474720" cy="1143000"/>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1A1A2E"/>
                </a:solidFill>
                <a:latin typeface="Calibri" pitchFamily="34" charset="0"/>
                <a:ea typeface="Calibri" pitchFamily="34" charset="-122"/>
                <a:cs typeface="Calibri" pitchFamily="34" charset="-120"/>
              </a:rPr>
              <a:t>Makes the rectangles</a:t>
            </a:r>
            <a:endParaRPr lang="en-US" sz="1250" dirty="0"/>
          </a:p>
          <a:p>
            <a:pPr marL="342900" indent="-342900">
              <a:spcAft>
                <a:spcPts val="500"/>
              </a:spcAft>
              <a:buSzPct val="100000"/>
              <a:buChar char="•"/>
            </a:pPr>
            <a:r>
              <a:rPr lang="en-US" sz="1250" dirty="0">
                <a:solidFill>
                  <a:srgbClr val="1A1A2E"/>
                </a:solidFill>
                <a:latin typeface="Calibri" pitchFamily="34" charset="0"/>
                <a:ea typeface="Calibri" pitchFamily="34" charset="-122"/>
                <a:cs typeface="Calibri" pitchFamily="34" charset="-120"/>
              </a:rPr>
              <a:t>One column, or two to nest</a:t>
            </a:r>
            <a:endParaRPr lang="en-US" sz="1250" dirty="0"/>
          </a:p>
          <a:p>
            <a:pPr marL="342900" indent="-342900">
              <a:spcAft>
                <a:spcPts val="500"/>
              </a:spcAft>
              <a:buSzPct val="100000"/>
              <a:buChar char="•"/>
            </a:pPr>
            <a:r>
              <a:rPr lang="en-US" sz="1250" dirty="0">
                <a:solidFill>
                  <a:srgbClr val="1A1A2E"/>
                </a:solidFill>
                <a:latin typeface="Calibri" pitchFamily="34" charset="0"/>
                <a:ea typeface="Calibri" pitchFamily="34" charset="-122"/>
                <a:cs typeface="Calibri" pitchFamily="34" charset="-120"/>
              </a:rPr>
              <a:t>Each child has one parent</a:t>
            </a:r>
            <a:endParaRPr lang="en-US" sz="1250" dirty="0"/>
          </a:p>
        </p:txBody>
      </p:sp>
      <p:sp>
        <p:nvSpPr>
          <p:cNvPr id="8" name="Shape 6"/>
          <p:cNvSpPr/>
          <p:nvPr/>
        </p:nvSpPr>
        <p:spPr>
          <a:xfrm>
            <a:off x="4617720" y="1188720"/>
            <a:ext cx="3977640" cy="2286000"/>
          </a:xfrm>
          <a:prstGeom prst="roundRect">
            <a:avLst>
              <a:gd name="adj" fmla="val 3600"/>
            </a:avLst>
          </a:prstGeom>
          <a:solidFill>
            <a:srgbClr val="2F3C7E"/>
          </a:solidFill>
          <a:ln/>
        </p:spPr>
      </p:sp>
      <p:sp>
        <p:nvSpPr>
          <p:cNvPr id="9" name="Text 7"/>
          <p:cNvSpPr/>
          <p:nvPr/>
        </p:nvSpPr>
        <p:spPr>
          <a:xfrm>
            <a:off x="4892040" y="1371600"/>
            <a:ext cx="3474720" cy="320040"/>
          </a:xfrm>
          <a:prstGeom prst="rect">
            <a:avLst/>
          </a:prstGeom>
          <a:noFill/>
          <a:ln/>
        </p:spPr>
        <p:txBody>
          <a:bodyPr wrap="square" lIns="0" tIns="0" rIns="0" bIns="0" rtlCol="0" anchor="ctr"/>
          <a:lstStyle/>
          <a:p>
            <a:pPr indent="0" marL="0">
              <a:buNone/>
            </a:pPr>
            <a:r>
              <a:rPr lang="en-US" sz="1100" b="1" spc="150" kern="0" dirty="0">
                <a:solidFill>
                  <a:srgbClr val="F9E795"/>
                </a:solidFill>
                <a:latin typeface="Calibri" pitchFamily="34" charset="0"/>
                <a:ea typeface="Calibri" pitchFamily="34" charset="-122"/>
                <a:cs typeface="Calibri" pitchFamily="34" charset="-120"/>
              </a:rPr>
              <a:t>COLUMN TYPE 2</a:t>
            </a:r>
            <a:endParaRPr lang="en-US" sz="1100" dirty="0"/>
          </a:p>
        </p:txBody>
      </p:sp>
      <p:sp>
        <p:nvSpPr>
          <p:cNvPr id="10" name="Text 8"/>
          <p:cNvSpPr/>
          <p:nvPr/>
        </p:nvSpPr>
        <p:spPr>
          <a:xfrm>
            <a:off x="4892040" y="1691640"/>
            <a:ext cx="3474720" cy="411480"/>
          </a:xfrm>
          <a:prstGeom prst="rect">
            <a:avLst/>
          </a:prstGeom>
          <a:noFill/>
          <a:ln/>
        </p:spPr>
        <p:txBody>
          <a:bodyPr wrap="square" lIns="0" tIns="0" rIns="0" bIns="0" rtlCol="0" anchor="ctr"/>
          <a:lstStyle/>
          <a:p>
            <a:pPr indent="0" marL="0">
              <a:buNone/>
            </a:pPr>
            <a:r>
              <a:rPr lang="en-US" sz="1800" b="1" dirty="0">
                <a:solidFill>
                  <a:srgbClr val="FFFFFF"/>
                </a:solidFill>
                <a:latin typeface="Bookman Old Style" pitchFamily="34" charset="0"/>
                <a:ea typeface="Bookman Old Style" pitchFamily="34" charset="-122"/>
                <a:cs typeface="Bookman Old Style" pitchFamily="34" charset="-120"/>
              </a:rPr>
              <a:t>Quantitative (number)</a:t>
            </a:r>
            <a:endParaRPr lang="en-US" sz="1800" dirty="0"/>
          </a:p>
        </p:txBody>
      </p:sp>
      <p:sp>
        <p:nvSpPr>
          <p:cNvPr id="11" name="Text 9"/>
          <p:cNvSpPr/>
          <p:nvPr/>
        </p:nvSpPr>
        <p:spPr>
          <a:xfrm>
            <a:off x="4892040" y="2212848"/>
            <a:ext cx="3474720" cy="1143000"/>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Sets the rectangle area</a:t>
            </a:r>
            <a:endParaRPr lang="en-US" sz="1250" dirty="0"/>
          </a:p>
          <a:p>
            <a:pPr marL="342900" indent="-3429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Must be positive</a:t>
            </a:r>
            <a:endParaRPr lang="en-US" sz="1250" dirty="0"/>
          </a:p>
          <a:p>
            <a:pPr marL="342900" indent="-3429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Must be additive</a:t>
            </a:r>
            <a:endParaRPr lang="en-US" sz="1250" dirty="0"/>
          </a:p>
        </p:txBody>
      </p:sp>
      <p:sp>
        <p:nvSpPr>
          <p:cNvPr id="12" name="Shape 10"/>
          <p:cNvSpPr/>
          <p:nvPr/>
        </p:nvSpPr>
        <p:spPr>
          <a:xfrm>
            <a:off x="548640" y="3675888"/>
            <a:ext cx="8046720" cy="1051560"/>
          </a:xfrm>
          <a:prstGeom prst="roundRect">
            <a:avLst>
              <a:gd name="adj" fmla="val 7826"/>
            </a:avLst>
          </a:prstGeom>
          <a:solidFill>
            <a:srgbClr val="F9E795"/>
          </a:solidFill>
          <a:ln/>
        </p:spPr>
      </p:sp>
      <p:sp>
        <p:nvSpPr>
          <p:cNvPr id="13" name="Text 11"/>
          <p:cNvSpPr/>
          <p:nvPr/>
        </p:nvSpPr>
        <p:spPr>
          <a:xfrm>
            <a:off x="822960" y="3776472"/>
            <a:ext cx="749808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The test: "If I add two of these together, does the answer mean anything?"</a:t>
            </a:r>
            <a:endParaRPr lang="en-US" sz="1400" dirty="0"/>
          </a:p>
        </p:txBody>
      </p:sp>
      <p:sp>
        <p:nvSpPr>
          <p:cNvPr id="14" name="Text 12"/>
          <p:cNvSpPr/>
          <p:nvPr/>
        </p:nvSpPr>
        <p:spPr>
          <a:xfrm>
            <a:off x="822960" y="4160520"/>
            <a:ext cx="7498080" cy="384048"/>
          </a:xfrm>
          <a:prstGeom prst="rect">
            <a:avLst/>
          </a:prstGeom>
          <a:noFill/>
          <a:ln/>
        </p:spPr>
        <p:txBody>
          <a:bodyPr wrap="square" lIns="0" tIns="0" rIns="0" bIns="0" rtlCol="0" anchor="ctr"/>
          <a:lstStyle/>
          <a:p>
            <a:pPr indent="0" marL="0">
              <a:buNone/>
            </a:pPr>
            <a:r>
              <a:rPr lang="en-US" sz="1250" b="1" dirty="0">
                <a:solidFill>
                  <a:srgbClr val="1F6B3A"/>
                </a:solidFill>
                <a:latin typeface="Calibri" pitchFamily="34" charset="0"/>
                <a:ea typeface="Calibri" pitchFamily="34" charset="-122"/>
                <a:cs typeface="Calibri" pitchFamily="34" charset="-120"/>
              </a:rPr>
              <a:t>3 coasters + 5 coasters = 8 coasters  ✓          </a:t>
            </a:r>
            <a:pPr indent="0" marL="0">
              <a:buNone/>
            </a:pPr>
            <a:r>
              <a:rPr lang="en-US" sz="1250" b="1" dirty="0">
                <a:solidFill>
                  <a:srgbClr val="9B1C1C"/>
                </a:solidFill>
                <a:latin typeface="Calibri" pitchFamily="34" charset="0"/>
                <a:ea typeface="Calibri" pitchFamily="34" charset="-122"/>
                <a:cs typeface="Calibri" pitchFamily="34" charset="-120"/>
              </a:rPr>
              <a:t>46 mph + 47 mph = 93 mph  ✗          2002 + 1993 = 3995  ✗</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548640" y="384048"/>
            <a:ext cx="8046720" cy="685800"/>
          </a:xfrm>
          <a:prstGeom prst="rect">
            <a:avLst/>
          </a:prstGeom>
          <a:noFill/>
          <a:ln/>
        </p:spPr>
        <p:txBody>
          <a:bodyPr wrap="square" lIns="0" tIns="0" rIns="0" bIns="0" rtlCol="0" anchor="ctr"/>
          <a:lstStyle/>
          <a:p>
            <a:pPr indent="0" marL="0">
              <a:buNone/>
            </a:pPr>
            <a:r>
              <a:rPr lang="en-US" sz="3200" b="1" dirty="0">
                <a:solidFill>
                  <a:srgbClr val="1A1A2E"/>
                </a:solidFill>
                <a:latin typeface="Bookman Old Style" pitchFamily="34" charset="0"/>
                <a:ea typeface="Bookman Old Style" pitchFamily="34" charset="-122"/>
                <a:cs typeface="Bookman Old Style" pitchFamily="34" charset="-120"/>
              </a:rPr>
              <a:t>Our treemap: coaster Design</a:t>
            </a:r>
            <a:endParaRPr lang="en-US" sz="3200" dirty="0"/>
          </a:p>
        </p:txBody>
      </p:sp>
      <p:sp>
        <p:nvSpPr>
          <p:cNvPr id="4" name="Text 2"/>
          <p:cNvSpPr/>
          <p:nvPr/>
        </p:nvSpPr>
        <p:spPr>
          <a:xfrm>
            <a:off x="548640" y="1060704"/>
            <a:ext cx="8046720" cy="320040"/>
          </a:xfrm>
          <a:prstGeom prst="rect">
            <a:avLst/>
          </a:prstGeom>
          <a:noFill/>
          <a:ln/>
        </p:spPr>
        <p:txBody>
          <a:bodyPr wrap="square" lIns="0" tIns="0" rIns="0" bIns="0" rtlCol="0" anchor="ctr"/>
          <a:lstStyle/>
          <a:p>
            <a:pPr indent="0" marL="0">
              <a:buNone/>
            </a:pPr>
            <a:r>
              <a:rPr lang="en-US" sz="1200" dirty="0">
                <a:solidFill>
                  <a:srgbClr val="6B6B7B"/>
                </a:solidFill>
                <a:latin typeface="Calibri" pitchFamily="34" charset="0"/>
                <a:ea typeface="Calibri" pitchFamily="34" charset="-122"/>
                <a:cs typeface="Calibri" pitchFamily="34" charset="-120"/>
              </a:rPr>
              <a:t>Categorical: Design   ·   Quantitative: Count of coasters   ·   Total: 50</a:t>
            </a:r>
            <a:endParaRPr lang="en-US" sz="1200" dirty="0"/>
          </a:p>
        </p:txBody>
      </p:sp>
      <p:sp>
        <p:nvSpPr>
          <p:cNvPr id="5" name="Shape 3"/>
          <p:cNvSpPr/>
          <p:nvPr/>
        </p:nvSpPr>
        <p:spPr>
          <a:xfrm>
            <a:off x="548640" y="1481328"/>
            <a:ext cx="4648810" cy="3108960"/>
          </a:xfrm>
          <a:prstGeom prst="rect">
            <a:avLst/>
          </a:prstGeom>
          <a:solidFill>
            <a:srgbClr val="2F3C7E"/>
          </a:solidFill>
          <a:ln w="25400">
            <a:solidFill>
              <a:srgbClr val="FFFFFF"/>
            </a:solidFill>
            <a:prstDash val="solid"/>
          </a:ln>
        </p:spPr>
      </p:sp>
      <p:sp>
        <p:nvSpPr>
          <p:cNvPr id="6" name="Text 4"/>
          <p:cNvSpPr/>
          <p:nvPr/>
        </p:nvSpPr>
        <p:spPr>
          <a:xfrm>
            <a:off x="731520" y="2532888"/>
            <a:ext cx="4283050"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Sit Down</a:t>
            </a:r>
            <a:endParaRPr lang="en-US" sz="2600" dirty="0"/>
          </a:p>
          <a:p>
            <a:pPr algn="ctr" indent="0" marL="0">
              <a:buNone/>
            </a:pPr>
            <a:r>
              <a:rPr lang="en-US" sz="1400" dirty="0">
                <a:solidFill>
                  <a:srgbClr val="F9E795"/>
                </a:solidFill>
                <a:latin typeface="Calibri" pitchFamily="34" charset="0"/>
                <a:ea typeface="Calibri" pitchFamily="34" charset="-122"/>
                <a:cs typeface="Calibri" pitchFamily="34" charset="-120"/>
              </a:rPr>
              <a:t>41 of 50  ·  82%</a:t>
            </a:r>
            <a:endParaRPr lang="en-US" sz="2600" dirty="0"/>
          </a:p>
        </p:txBody>
      </p:sp>
      <p:sp>
        <p:nvSpPr>
          <p:cNvPr id="7" name="Shape 5"/>
          <p:cNvSpPr/>
          <p:nvPr/>
        </p:nvSpPr>
        <p:spPr>
          <a:xfrm>
            <a:off x="5197450" y="1481328"/>
            <a:ext cx="1020470" cy="2072640"/>
          </a:xfrm>
          <a:prstGeom prst="rect">
            <a:avLst/>
          </a:prstGeom>
          <a:solidFill>
            <a:srgbClr val="F96167"/>
          </a:solidFill>
          <a:ln w="25400">
            <a:solidFill>
              <a:srgbClr val="FFFFFF"/>
            </a:solidFill>
            <a:prstDash val="solid"/>
          </a:ln>
        </p:spPr>
      </p:sp>
      <p:sp>
        <p:nvSpPr>
          <p:cNvPr id="8" name="Text 6"/>
          <p:cNvSpPr/>
          <p:nvPr/>
        </p:nvSpPr>
        <p:spPr>
          <a:xfrm>
            <a:off x="5197450" y="2139696"/>
            <a:ext cx="102047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Inverted</a:t>
            </a:r>
            <a:endParaRPr lang="en-US" sz="1300" dirty="0"/>
          </a:p>
          <a:p>
            <a:pPr algn="ctr" indent="0" marL="0">
              <a:buNone/>
            </a:pPr>
            <a:r>
              <a:rPr lang="en-US" sz="1200" dirty="0">
                <a:solidFill>
                  <a:srgbClr val="FFFFFF"/>
                </a:solidFill>
                <a:latin typeface="Calibri" pitchFamily="34" charset="0"/>
                <a:ea typeface="Calibri" pitchFamily="34" charset="-122"/>
                <a:cs typeface="Calibri" pitchFamily="34" charset="-120"/>
              </a:rPr>
              <a:t>6</a:t>
            </a:r>
            <a:endParaRPr lang="en-US" sz="1300" dirty="0"/>
          </a:p>
        </p:txBody>
      </p:sp>
      <p:sp>
        <p:nvSpPr>
          <p:cNvPr id="9" name="Shape 7"/>
          <p:cNvSpPr/>
          <p:nvPr/>
        </p:nvSpPr>
        <p:spPr>
          <a:xfrm>
            <a:off x="5197450" y="3553968"/>
            <a:ext cx="1020470" cy="345440"/>
          </a:xfrm>
          <a:prstGeom prst="rect">
            <a:avLst/>
          </a:prstGeom>
          <a:solidFill>
            <a:srgbClr val="F9E795"/>
          </a:solidFill>
          <a:ln w="25400">
            <a:solidFill>
              <a:srgbClr val="FFFFFF"/>
            </a:solidFill>
            <a:prstDash val="solid"/>
          </a:ln>
        </p:spPr>
      </p:sp>
      <p:sp>
        <p:nvSpPr>
          <p:cNvPr id="10" name="Text 8"/>
          <p:cNvSpPr/>
          <p:nvPr/>
        </p:nvSpPr>
        <p:spPr>
          <a:xfrm>
            <a:off x="5197450" y="3595116"/>
            <a:ext cx="1020470" cy="265176"/>
          </a:xfrm>
          <a:prstGeom prst="rect">
            <a:avLst/>
          </a:prstGeom>
          <a:noFill/>
          <a:ln/>
        </p:spPr>
        <p:txBody>
          <a:bodyPr wrap="square" lIns="0" tIns="0" rIns="0" bIns="0" rtlCol="0" anchor="ctr"/>
          <a:lstStyle/>
          <a:p>
            <a:pPr algn="ctr" indent="0" marL="0">
              <a:buNone/>
            </a:pPr>
            <a:r>
              <a:rPr lang="en-US" sz="850" b="1" dirty="0">
                <a:solidFill>
                  <a:srgbClr val="1A1A2E"/>
                </a:solidFill>
                <a:latin typeface="Calibri" pitchFamily="34" charset="0"/>
                <a:ea typeface="Calibri" pitchFamily="34" charset="-122"/>
                <a:cs typeface="Calibri" pitchFamily="34" charset="-120"/>
              </a:rPr>
              <a:t>Flying  1</a:t>
            </a:r>
            <a:endParaRPr lang="en-US" sz="850" dirty="0"/>
          </a:p>
        </p:txBody>
      </p:sp>
      <p:sp>
        <p:nvSpPr>
          <p:cNvPr id="11" name="Shape 9"/>
          <p:cNvSpPr/>
          <p:nvPr/>
        </p:nvSpPr>
        <p:spPr>
          <a:xfrm>
            <a:off x="5197450" y="3899408"/>
            <a:ext cx="1020470" cy="345440"/>
          </a:xfrm>
          <a:prstGeom prst="rect">
            <a:avLst/>
          </a:prstGeom>
          <a:solidFill>
            <a:srgbClr val="C9CDE4"/>
          </a:solidFill>
          <a:ln w="25400">
            <a:solidFill>
              <a:srgbClr val="FFFFFF"/>
            </a:solidFill>
            <a:prstDash val="solid"/>
          </a:ln>
        </p:spPr>
      </p:sp>
      <p:sp>
        <p:nvSpPr>
          <p:cNvPr id="12" name="Text 10"/>
          <p:cNvSpPr/>
          <p:nvPr/>
        </p:nvSpPr>
        <p:spPr>
          <a:xfrm>
            <a:off x="5197450" y="3940556"/>
            <a:ext cx="1020470" cy="265176"/>
          </a:xfrm>
          <a:prstGeom prst="rect">
            <a:avLst/>
          </a:prstGeom>
          <a:noFill/>
          <a:ln/>
        </p:spPr>
        <p:txBody>
          <a:bodyPr wrap="square" lIns="0" tIns="0" rIns="0" bIns="0" rtlCol="0" anchor="ctr"/>
          <a:lstStyle/>
          <a:p>
            <a:pPr algn="ctr" indent="0" marL="0">
              <a:buNone/>
            </a:pPr>
            <a:r>
              <a:rPr lang="en-US" sz="850" b="1" dirty="0">
                <a:solidFill>
                  <a:srgbClr val="1A1A2E"/>
                </a:solidFill>
                <a:latin typeface="Calibri" pitchFamily="34" charset="0"/>
                <a:ea typeface="Calibri" pitchFamily="34" charset="-122"/>
                <a:cs typeface="Calibri" pitchFamily="34" charset="-120"/>
              </a:rPr>
              <a:t>Stand Up  1</a:t>
            </a:r>
            <a:endParaRPr lang="en-US" sz="850" dirty="0"/>
          </a:p>
        </p:txBody>
      </p:sp>
      <p:sp>
        <p:nvSpPr>
          <p:cNvPr id="13" name="Shape 11"/>
          <p:cNvSpPr/>
          <p:nvPr/>
        </p:nvSpPr>
        <p:spPr>
          <a:xfrm>
            <a:off x="5197450" y="4244848"/>
            <a:ext cx="1020470" cy="345440"/>
          </a:xfrm>
          <a:prstGeom prst="rect">
            <a:avLst/>
          </a:prstGeom>
          <a:solidFill>
            <a:srgbClr val="E4E6EF"/>
          </a:solidFill>
          <a:ln w="25400">
            <a:solidFill>
              <a:srgbClr val="FFFFFF"/>
            </a:solidFill>
            <a:prstDash val="solid"/>
          </a:ln>
        </p:spPr>
      </p:sp>
      <p:sp>
        <p:nvSpPr>
          <p:cNvPr id="14" name="Text 12"/>
          <p:cNvSpPr/>
          <p:nvPr/>
        </p:nvSpPr>
        <p:spPr>
          <a:xfrm>
            <a:off x="5197450" y="4285996"/>
            <a:ext cx="1020470" cy="265176"/>
          </a:xfrm>
          <a:prstGeom prst="rect">
            <a:avLst/>
          </a:prstGeom>
          <a:noFill/>
          <a:ln/>
        </p:spPr>
        <p:txBody>
          <a:bodyPr wrap="square" lIns="0" tIns="0" rIns="0" bIns="0" rtlCol="0" anchor="ctr"/>
          <a:lstStyle/>
          <a:p>
            <a:pPr algn="ctr" indent="0" marL="0">
              <a:buNone/>
            </a:pPr>
            <a:r>
              <a:rPr lang="en-US" sz="850" b="1" dirty="0">
                <a:solidFill>
                  <a:srgbClr val="1A1A2E"/>
                </a:solidFill>
                <a:latin typeface="Calibri" pitchFamily="34" charset="0"/>
                <a:ea typeface="Calibri" pitchFamily="34" charset="-122"/>
                <a:cs typeface="Calibri" pitchFamily="34" charset="-120"/>
              </a:rPr>
              <a:t>Suspended  1</a:t>
            </a:r>
            <a:endParaRPr lang="en-US" sz="850" dirty="0"/>
          </a:p>
        </p:txBody>
      </p:sp>
      <p:sp>
        <p:nvSpPr>
          <p:cNvPr id="15" name="Shape 13"/>
          <p:cNvSpPr/>
          <p:nvPr/>
        </p:nvSpPr>
        <p:spPr>
          <a:xfrm>
            <a:off x="6446520" y="1481328"/>
            <a:ext cx="2148840" cy="3108960"/>
          </a:xfrm>
          <a:prstGeom prst="roundRect">
            <a:avLst>
              <a:gd name="adj" fmla="val 3830"/>
            </a:avLst>
          </a:prstGeom>
          <a:solidFill>
            <a:srgbClr val="EEF0F7"/>
          </a:solidFill>
          <a:ln/>
        </p:spPr>
      </p:sp>
      <p:sp>
        <p:nvSpPr>
          <p:cNvPr id="16" name="Text 14"/>
          <p:cNvSpPr/>
          <p:nvPr/>
        </p:nvSpPr>
        <p:spPr>
          <a:xfrm>
            <a:off x="6656832" y="1664208"/>
            <a:ext cx="1737360" cy="320040"/>
          </a:xfrm>
          <a:prstGeom prst="rect">
            <a:avLst/>
          </a:prstGeom>
          <a:noFill/>
          <a:ln/>
        </p:spPr>
        <p:txBody>
          <a:bodyPr wrap="square" lIns="0" tIns="0" rIns="0" bIns="0" rtlCol="0" anchor="ctr"/>
          <a:lstStyle/>
          <a:p>
            <a:pPr indent="0" marL="0">
              <a:buNone/>
            </a:pPr>
            <a:r>
              <a:rPr lang="en-US" sz="1500" b="1" dirty="0">
                <a:solidFill>
                  <a:srgbClr val="1A1A2E"/>
                </a:solidFill>
                <a:latin typeface="Bookman Old Style" pitchFamily="34" charset="0"/>
                <a:ea typeface="Bookman Old Style" pitchFamily="34" charset="-122"/>
                <a:cs typeface="Bookman Old Style" pitchFamily="34" charset="-120"/>
              </a:rPr>
              <a:t>What it says</a:t>
            </a:r>
            <a:endParaRPr lang="en-US" sz="1500" dirty="0"/>
          </a:p>
        </p:txBody>
      </p:sp>
      <p:sp>
        <p:nvSpPr>
          <p:cNvPr id="17" name="Text 15"/>
          <p:cNvSpPr/>
          <p:nvPr/>
        </p:nvSpPr>
        <p:spPr>
          <a:xfrm>
            <a:off x="6656832" y="2057400"/>
            <a:ext cx="1737360" cy="2377440"/>
          </a:xfrm>
          <a:prstGeom prst="rect">
            <a:avLst/>
          </a:prstGeom>
          <a:noFill/>
          <a:ln/>
        </p:spPr>
        <p:txBody>
          <a:bodyPr wrap="square" lIns="0" tIns="0" rIns="0" bIns="0" rtlCol="0" anchor="ctr"/>
          <a:lstStyle/>
          <a:p>
            <a:pPr indent="0" marL="0">
              <a:spcAft>
                <a:spcPts val="300"/>
              </a:spcAft>
              <a:buNone/>
            </a:pPr>
            <a:r>
              <a:rPr lang="en-US" sz="1050" b="1" dirty="0">
                <a:solidFill>
                  <a:srgbClr val="1A1A2E"/>
                </a:solidFill>
                <a:latin typeface="Calibri" pitchFamily="34" charset="0"/>
                <a:ea typeface="Calibri" pitchFamily="34" charset="-122"/>
                <a:cs typeface="Calibri" pitchFamily="34" charset="-120"/>
              </a:rPr>
              <a:t>Sit Down dominates.</a:t>
            </a:r>
            <a:endParaRPr lang="en-US" sz="1050" dirty="0"/>
          </a:p>
          <a:p>
            <a:pPr indent="0" marL="0">
              <a:spcAft>
                <a:spcPts val="300"/>
              </a:spcAft>
              <a:buNone/>
            </a:pPr>
            <a:r>
              <a:rPr lang="en-US" sz="1050" dirty="0">
                <a:solidFill>
                  <a:srgbClr val="6B6B7B"/>
                </a:solidFill>
                <a:latin typeface="Calibri" pitchFamily="34" charset="0"/>
                <a:ea typeface="Calibri" pitchFamily="34" charset="-122"/>
                <a:cs typeface="Calibri" pitchFamily="34" charset="-120"/>
              </a:rPr>
              <a:t>The other four designs together are under a fifth of the field.</a:t>
            </a:r>
            <a:endParaRPr lang="en-US" sz="1050" dirty="0"/>
          </a:p>
          <a:p>
            <a:pPr indent="0" marL="0">
              <a:spcAft>
                <a:spcPts val="300"/>
              </a:spcAft>
              <a:buNone/>
            </a:pPr>
            <a:endParaRPr lang="en-US" sz="1050" dirty="0"/>
          </a:p>
          <a:p>
            <a:pPr indent="0" marL="0">
              <a:spcAft>
                <a:spcPts val="300"/>
              </a:spcAft>
              <a:buNone/>
            </a:pPr>
            <a:r>
              <a:rPr lang="en-US" sz="1050" dirty="0">
                <a:solidFill>
                  <a:srgbClr val="6B6B7B"/>
                </a:solidFill>
                <a:latin typeface="Calibri" pitchFamily="34" charset="0"/>
                <a:ea typeface="Calibri" pitchFamily="34" charset="-122"/>
                <a:cs typeface="Calibri" pitchFamily="34" charset="-120"/>
              </a:rPr>
              <a:t>Three designs have one coaster each — those slivers are near-unreadable.</a:t>
            </a:r>
            <a:endParaRPr lang="en-US" sz="1050" dirty="0"/>
          </a:p>
        </p:txBody>
      </p:sp>
      <p:sp>
        <p:nvSpPr>
          <p:cNvPr id="18" name="Text 16"/>
          <p:cNvSpPr/>
          <p:nvPr/>
        </p:nvSpPr>
        <p:spPr>
          <a:xfrm>
            <a:off x="548640" y="4681728"/>
            <a:ext cx="8046720" cy="320040"/>
          </a:xfrm>
          <a:prstGeom prst="rect">
            <a:avLst/>
          </a:prstGeom>
          <a:noFill/>
          <a:ln/>
        </p:spPr>
        <p:txBody>
          <a:bodyPr wrap="square" lIns="0" tIns="0" rIns="0" bIns="0" rtlCol="0" anchor="ctr"/>
          <a:lstStyle/>
          <a:p>
            <a:pPr indent="0" marL="0">
              <a:buNone/>
            </a:pPr>
            <a:r>
              <a:rPr lang="en-US" sz="1100" i="1" dirty="0">
                <a:solidFill>
                  <a:srgbClr val="2F3C7E"/>
                </a:solidFill>
                <a:latin typeface="Calibri" pitchFamily="34" charset="0"/>
                <a:ea typeface="Calibri" pitchFamily="34" charset="-122"/>
                <a:cs typeface="Calibri" pitchFamily="34" charset="-120"/>
              </a:rPr>
              <a:t>Flat, single-level. Add Type (Steel / Wood) as a parent to make it truly hierarchical.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548640" y="384048"/>
            <a:ext cx="8046720" cy="685800"/>
          </a:xfrm>
          <a:prstGeom prst="rect">
            <a:avLst/>
          </a:prstGeom>
          <a:noFill/>
          <a:ln/>
        </p:spPr>
        <p:txBody>
          <a:bodyPr wrap="square" lIns="0" tIns="0" rIns="0" bIns="0" rtlCol="0" anchor="ctr"/>
          <a:lstStyle/>
          <a:p>
            <a:pPr indent="0" marL="0">
              <a:buNone/>
            </a:pPr>
            <a:r>
              <a:rPr lang="en-US" sz="3200" b="1" dirty="0">
                <a:solidFill>
                  <a:srgbClr val="1A1A2E"/>
                </a:solidFill>
                <a:latin typeface="Bookman Old Style" pitchFamily="34" charset="0"/>
                <a:ea typeface="Bookman Old Style" pitchFamily="34" charset="-122"/>
                <a:cs typeface="Bookman Old Style" pitchFamily="34" charset="-120"/>
              </a:rPr>
              <a:t>Why the treemap matters</a:t>
            </a:r>
            <a:endParaRPr lang="en-US" sz="3200" dirty="0"/>
          </a:p>
        </p:txBody>
      </p:sp>
      <p:sp>
        <p:nvSpPr>
          <p:cNvPr id="4" name="Shape 2"/>
          <p:cNvSpPr/>
          <p:nvPr/>
        </p:nvSpPr>
        <p:spPr>
          <a:xfrm>
            <a:off x="548640" y="1234440"/>
            <a:ext cx="2560320" cy="2834640"/>
          </a:xfrm>
          <a:prstGeom prst="roundRect">
            <a:avLst>
              <a:gd name="adj" fmla="val 3214"/>
            </a:avLst>
          </a:prstGeom>
          <a:solidFill>
            <a:srgbClr val="EEF0F7"/>
          </a:solidFill>
          <a:ln/>
        </p:spPr>
      </p:sp>
      <p:sp>
        <p:nvSpPr>
          <p:cNvPr id="5" name="Shape 3"/>
          <p:cNvSpPr/>
          <p:nvPr/>
        </p:nvSpPr>
        <p:spPr>
          <a:xfrm>
            <a:off x="804672" y="1481328"/>
            <a:ext cx="548640" cy="548640"/>
          </a:xfrm>
          <a:prstGeom prst="ellipse">
            <a:avLst/>
          </a:prstGeom>
          <a:solidFill>
            <a:srgbClr val="2F3C7E"/>
          </a:solidFill>
          <a:ln/>
        </p:spPr>
      </p:sp>
      <p:sp>
        <p:nvSpPr>
          <p:cNvPr id="6" name="Text 4"/>
          <p:cNvSpPr/>
          <p:nvPr/>
        </p:nvSpPr>
        <p:spPr>
          <a:xfrm>
            <a:off x="804672" y="1572768"/>
            <a:ext cx="5486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804672" y="2176272"/>
            <a:ext cx="2057400" cy="457200"/>
          </a:xfrm>
          <a:prstGeom prst="rect">
            <a:avLst/>
          </a:prstGeom>
          <a:noFill/>
          <a:ln/>
        </p:spPr>
        <p:txBody>
          <a:bodyPr wrap="square" lIns="0" tIns="0" rIns="0" bIns="0" rtlCol="0" anchor="ctr"/>
          <a:lstStyle/>
          <a:p>
            <a:pPr indent="0" marL="0">
              <a:buNone/>
            </a:pPr>
            <a:r>
              <a:rPr lang="en-US" sz="1500" b="1" dirty="0">
                <a:solidFill>
                  <a:srgbClr val="1A1A2E"/>
                </a:solidFill>
                <a:latin typeface="Bookman Old Style" pitchFamily="34" charset="0"/>
                <a:ea typeface="Bookman Old Style" pitchFamily="34" charset="-122"/>
                <a:cs typeface="Bookman Old Style" pitchFamily="34" charset="-120"/>
              </a:rPr>
              <a:t>Density</a:t>
            </a:r>
            <a:endParaRPr lang="en-US" sz="1500" dirty="0"/>
          </a:p>
        </p:txBody>
      </p:sp>
      <p:sp>
        <p:nvSpPr>
          <p:cNvPr id="8" name="Text 6"/>
          <p:cNvSpPr/>
          <p:nvPr/>
        </p:nvSpPr>
        <p:spPr>
          <a:xfrm>
            <a:off x="804672" y="2670048"/>
            <a:ext cx="2057400" cy="1188720"/>
          </a:xfrm>
          <a:prstGeom prst="rect">
            <a:avLst/>
          </a:prstGeom>
          <a:noFill/>
          <a:ln/>
        </p:spPr>
        <p:txBody>
          <a:bodyPr wrap="square" lIns="0" tIns="0" rIns="0" bIns="0" rtlCol="0" anchor="ctr"/>
          <a:lstStyle/>
          <a:p>
            <a:pPr indent="0" marL="0">
              <a:buNone/>
            </a:pPr>
            <a:r>
              <a:rPr lang="en-US" sz="1150" dirty="0">
                <a:solidFill>
                  <a:srgbClr val="6B6B7B"/>
                </a:solidFill>
                <a:latin typeface="Calibri" pitchFamily="34" charset="0"/>
                <a:ea typeface="Calibri" pitchFamily="34" charset="-122"/>
                <a:cs typeface="Calibri" pitchFamily="34" charset="-120"/>
              </a:rPr>
              <a:t>Hundreds of categories on one screen. A bar chart would need a scrollbar; a pie would be a colour wheel.</a:t>
            </a:r>
            <a:endParaRPr lang="en-US" sz="1150" dirty="0"/>
          </a:p>
        </p:txBody>
      </p:sp>
      <p:sp>
        <p:nvSpPr>
          <p:cNvPr id="9" name="Shape 7"/>
          <p:cNvSpPr/>
          <p:nvPr/>
        </p:nvSpPr>
        <p:spPr>
          <a:xfrm>
            <a:off x="3291840" y="1234440"/>
            <a:ext cx="2560320" cy="2834640"/>
          </a:xfrm>
          <a:prstGeom prst="roundRect">
            <a:avLst>
              <a:gd name="adj" fmla="val 3214"/>
            </a:avLst>
          </a:prstGeom>
          <a:solidFill>
            <a:srgbClr val="EEF0F7"/>
          </a:solidFill>
          <a:ln/>
        </p:spPr>
      </p:sp>
      <p:sp>
        <p:nvSpPr>
          <p:cNvPr id="10" name="Shape 8"/>
          <p:cNvSpPr/>
          <p:nvPr/>
        </p:nvSpPr>
        <p:spPr>
          <a:xfrm>
            <a:off x="3547872" y="1481328"/>
            <a:ext cx="548640" cy="548640"/>
          </a:xfrm>
          <a:prstGeom prst="ellipse">
            <a:avLst/>
          </a:prstGeom>
          <a:solidFill>
            <a:srgbClr val="F96167"/>
          </a:solidFill>
          <a:ln/>
        </p:spPr>
      </p:sp>
      <p:sp>
        <p:nvSpPr>
          <p:cNvPr id="11" name="Text 9"/>
          <p:cNvSpPr/>
          <p:nvPr/>
        </p:nvSpPr>
        <p:spPr>
          <a:xfrm>
            <a:off x="3547872" y="1572768"/>
            <a:ext cx="5486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2" name="Text 10"/>
          <p:cNvSpPr/>
          <p:nvPr/>
        </p:nvSpPr>
        <p:spPr>
          <a:xfrm>
            <a:off x="3547872" y="2176272"/>
            <a:ext cx="2057400" cy="457200"/>
          </a:xfrm>
          <a:prstGeom prst="rect">
            <a:avLst/>
          </a:prstGeom>
          <a:noFill/>
          <a:ln/>
        </p:spPr>
        <p:txBody>
          <a:bodyPr wrap="square" lIns="0" tIns="0" rIns="0" bIns="0" rtlCol="0" anchor="ctr"/>
          <a:lstStyle/>
          <a:p>
            <a:pPr indent="0" marL="0">
              <a:buNone/>
            </a:pPr>
            <a:r>
              <a:rPr lang="en-US" sz="1500" b="1" dirty="0">
                <a:solidFill>
                  <a:srgbClr val="1A1A2E"/>
                </a:solidFill>
                <a:latin typeface="Bookman Old Style" pitchFamily="34" charset="0"/>
                <a:ea typeface="Bookman Old Style" pitchFamily="34" charset="-122"/>
                <a:cs typeface="Bookman Old Style" pitchFamily="34" charset="-120"/>
              </a:rPr>
              <a:t>Two questions, one chart</a:t>
            </a:r>
            <a:endParaRPr lang="en-US" sz="1500" dirty="0"/>
          </a:p>
        </p:txBody>
      </p:sp>
      <p:sp>
        <p:nvSpPr>
          <p:cNvPr id="13" name="Text 11"/>
          <p:cNvSpPr/>
          <p:nvPr/>
        </p:nvSpPr>
        <p:spPr>
          <a:xfrm>
            <a:off x="3547872" y="2670048"/>
            <a:ext cx="2057400" cy="1188720"/>
          </a:xfrm>
          <a:prstGeom prst="rect">
            <a:avLst/>
          </a:prstGeom>
          <a:noFill/>
          <a:ln/>
        </p:spPr>
        <p:txBody>
          <a:bodyPr wrap="square" lIns="0" tIns="0" rIns="0" bIns="0" rtlCol="0" anchor="ctr"/>
          <a:lstStyle/>
          <a:p>
            <a:pPr indent="0" marL="0">
              <a:buNone/>
            </a:pPr>
            <a:r>
              <a:rPr lang="en-US" sz="1150" dirty="0">
                <a:solidFill>
                  <a:srgbClr val="6B6B7B"/>
                </a:solidFill>
                <a:latin typeface="Calibri" pitchFamily="34" charset="0"/>
                <a:ea typeface="Calibri" pitchFamily="34" charset="-122"/>
                <a:cs typeface="Calibri" pitchFamily="34" charset="-120"/>
              </a:rPr>
              <a:t>Part-to-whole AND structure at the same time. You see the share and where it sits in the hierarchy.</a:t>
            </a:r>
            <a:endParaRPr lang="en-US" sz="1150" dirty="0"/>
          </a:p>
        </p:txBody>
      </p:sp>
      <p:sp>
        <p:nvSpPr>
          <p:cNvPr id="14" name="Shape 12"/>
          <p:cNvSpPr/>
          <p:nvPr/>
        </p:nvSpPr>
        <p:spPr>
          <a:xfrm>
            <a:off x="6035040" y="1234440"/>
            <a:ext cx="2560320" cy="2834640"/>
          </a:xfrm>
          <a:prstGeom prst="roundRect">
            <a:avLst>
              <a:gd name="adj" fmla="val 3214"/>
            </a:avLst>
          </a:prstGeom>
          <a:solidFill>
            <a:srgbClr val="EEF0F7"/>
          </a:solidFill>
          <a:ln/>
        </p:spPr>
      </p:sp>
      <p:sp>
        <p:nvSpPr>
          <p:cNvPr id="15" name="Shape 13"/>
          <p:cNvSpPr/>
          <p:nvPr/>
        </p:nvSpPr>
        <p:spPr>
          <a:xfrm>
            <a:off x="6291072" y="1481328"/>
            <a:ext cx="548640" cy="548640"/>
          </a:xfrm>
          <a:prstGeom prst="ellipse">
            <a:avLst/>
          </a:prstGeom>
          <a:solidFill>
            <a:srgbClr val="F9E795"/>
          </a:solidFill>
          <a:ln/>
        </p:spPr>
      </p:sp>
      <p:sp>
        <p:nvSpPr>
          <p:cNvPr id="16" name="Text 14"/>
          <p:cNvSpPr/>
          <p:nvPr/>
        </p:nvSpPr>
        <p:spPr>
          <a:xfrm>
            <a:off x="6291072" y="1572768"/>
            <a:ext cx="548640" cy="365760"/>
          </a:xfrm>
          <a:prstGeom prst="rect">
            <a:avLst/>
          </a:prstGeom>
          <a:noFill/>
          <a:ln/>
        </p:spPr>
        <p:txBody>
          <a:bodyPr wrap="square" lIns="0" tIns="0" rIns="0" bIns="0"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03</a:t>
            </a:r>
            <a:endParaRPr lang="en-US" sz="1300" dirty="0"/>
          </a:p>
        </p:txBody>
      </p:sp>
      <p:sp>
        <p:nvSpPr>
          <p:cNvPr id="17" name="Text 15"/>
          <p:cNvSpPr/>
          <p:nvPr/>
        </p:nvSpPr>
        <p:spPr>
          <a:xfrm>
            <a:off x="6291072" y="2176272"/>
            <a:ext cx="2057400" cy="457200"/>
          </a:xfrm>
          <a:prstGeom prst="rect">
            <a:avLst/>
          </a:prstGeom>
          <a:noFill/>
          <a:ln/>
        </p:spPr>
        <p:txBody>
          <a:bodyPr wrap="square" lIns="0" tIns="0" rIns="0" bIns="0" rtlCol="0" anchor="ctr"/>
          <a:lstStyle/>
          <a:p>
            <a:pPr indent="0" marL="0">
              <a:buNone/>
            </a:pPr>
            <a:r>
              <a:rPr lang="en-US" sz="1500" b="1" dirty="0">
                <a:solidFill>
                  <a:srgbClr val="1A1A2E"/>
                </a:solidFill>
                <a:latin typeface="Bookman Old Style" pitchFamily="34" charset="0"/>
                <a:ea typeface="Bookman Old Style" pitchFamily="34" charset="-122"/>
                <a:cs typeface="Bookman Old Style" pitchFamily="34" charset="-120"/>
              </a:rPr>
              <a:t>Two measures at once</a:t>
            </a:r>
            <a:endParaRPr lang="en-US" sz="1500" dirty="0"/>
          </a:p>
        </p:txBody>
      </p:sp>
      <p:sp>
        <p:nvSpPr>
          <p:cNvPr id="18" name="Text 16"/>
          <p:cNvSpPr/>
          <p:nvPr/>
        </p:nvSpPr>
        <p:spPr>
          <a:xfrm>
            <a:off x="6291072" y="2670048"/>
            <a:ext cx="2057400" cy="1188720"/>
          </a:xfrm>
          <a:prstGeom prst="rect">
            <a:avLst/>
          </a:prstGeom>
          <a:noFill/>
          <a:ln/>
        </p:spPr>
        <p:txBody>
          <a:bodyPr wrap="square" lIns="0" tIns="0" rIns="0" bIns="0" rtlCol="0" anchor="ctr"/>
          <a:lstStyle/>
          <a:p>
            <a:pPr indent="0" marL="0">
              <a:buNone/>
            </a:pPr>
            <a:r>
              <a:rPr lang="en-US" sz="1150" dirty="0">
                <a:solidFill>
                  <a:srgbClr val="6B6B7B"/>
                </a:solidFill>
                <a:latin typeface="Calibri" pitchFamily="34" charset="0"/>
                <a:ea typeface="Calibri" pitchFamily="34" charset="-122"/>
                <a:cs typeface="Calibri" pitchFamily="34" charset="-120"/>
              </a:rPr>
              <a:t>Size by one number, colour by another — e.g. area = coaster count, colour = average speed.</a:t>
            </a:r>
            <a:endParaRPr lang="en-US" sz="1150" dirty="0"/>
          </a:p>
        </p:txBody>
      </p:sp>
      <p:sp>
        <p:nvSpPr>
          <p:cNvPr id="19" name="Shape 17"/>
          <p:cNvSpPr/>
          <p:nvPr/>
        </p:nvSpPr>
        <p:spPr>
          <a:xfrm>
            <a:off x="548640" y="4261104"/>
            <a:ext cx="8046720" cy="658368"/>
          </a:xfrm>
          <a:prstGeom prst="roundRect">
            <a:avLst>
              <a:gd name="adj" fmla="val 12500"/>
            </a:avLst>
          </a:prstGeom>
          <a:solidFill>
            <a:srgbClr val="2F3C7E"/>
          </a:solidFill>
          <a:ln/>
        </p:spPr>
      </p:sp>
      <p:sp>
        <p:nvSpPr>
          <p:cNvPr id="20" name="Text 18"/>
          <p:cNvSpPr/>
          <p:nvPr/>
        </p:nvSpPr>
        <p:spPr>
          <a:xfrm>
            <a:off x="822960" y="4370832"/>
            <a:ext cx="7498080" cy="43891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Where it wins: many categories, real nesting, and a total that means something.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2026-07-10T14:13:11Z</dcterms:created>
  <dcterms:modified xsi:type="dcterms:W3CDTF">2026-07-10T14:13:11Z</dcterms:modified>
</cp:coreProperties>
</file>